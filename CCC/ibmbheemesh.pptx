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90" r:id="rId2"/>
    <p:sldId id="291" r:id="rId3"/>
    <p:sldId id="292" r:id="rId4"/>
    <p:sldId id="293" r:id="rId5"/>
    <p:sldId id="294" r:id="rId6"/>
    <p:sldId id="299" r:id="rId7"/>
    <p:sldId id="310" r:id="rId8"/>
    <p:sldId id="311" r:id="rId9"/>
    <p:sldId id="312" r:id="rId10"/>
    <p:sldId id="313" r:id="rId11"/>
    <p:sldId id="304" r:id="rId12"/>
    <p:sldId id="305" r:id="rId13"/>
    <p:sldId id="306" r:id="rId14"/>
    <p:sldId id="307" r:id="rId15"/>
    <p:sldId id="308" r:id="rId16"/>
    <p:sldId id="309"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60BCF9D-BD7E-84F6-D86E-417B7679085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66FEE05-824A-D2F5-604F-5B5E3B76D4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E2547ECC-AEA6-4491-AF1C-40E875D4C8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726802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6C3D46C-0178-AC71-0509-35A6B8BC806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DEE088C3-DC1B-518B-B7C1-0C119195B6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6E14B256-D923-ECFB-DF06-E8DDF6E56E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471433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18DDF2C-D7F9-F064-E098-3B3C3567FE50}"/>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266FB436-9B99-E66F-E985-7695363E33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4A5D628-E50B-2DD7-85DA-2AE0B29069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11778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49F57DE-4F2E-84F6-3D03-0DE022A15E53}"/>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69048C8-A608-703F-84F4-C143C25ECB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382BF865-FF38-D76F-0794-6C5A68A317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54803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7627442"/>
              </p:ext>
            </p:extLst>
          </p:nvPr>
        </p:nvGraphicFramePr>
        <p:xfrm>
          <a:off x="1299257" y="2600315"/>
          <a:ext cx="9394989" cy="2178162"/>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204925">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err="1"/>
                        <a:t>G.Bheemesh</a:t>
                      </a:r>
                      <a:endParaRPr lang="en-IN" dirty="0"/>
                    </a:p>
                    <a:p>
                      <a:pPr marL="0" marR="0" lvl="0" indent="0" algn="l" rtl="0">
                        <a:spcBef>
                          <a:spcPts val="0"/>
                        </a:spcBef>
                        <a:spcAft>
                          <a:spcPts val="0"/>
                        </a:spcAft>
                        <a:buNone/>
                      </a:pPr>
                      <a:r>
                        <a:rPr lang="en-IN" dirty="0"/>
                        <a:t>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23r11a0560@gcet.edu.in</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6309523648</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92552"/>
          </a:xfrm>
          <a:prstGeom prst="rect">
            <a:avLst/>
          </a:prstGeom>
          <a:noFill/>
        </p:spPr>
        <p:txBody>
          <a:bodyPr wrap="square" rtlCol="0">
            <a:spAutoFit/>
          </a:bodyPr>
          <a:lstStyle/>
          <a:p>
            <a:r>
              <a:rPr lang="en-US" sz="2400" b="1" dirty="0"/>
              <a:t>Project Tile – </a:t>
            </a:r>
            <a:r>
              <a:rPr lang="en-US" sz="2800" b="1" dirty="0"/>
              <a:t>Smart Nutrition Agent</a:t>
            </a:r>
            <a:endParaRPr lang="en-IN" sz="2800" dirty="0"/>
          </a:p>
          <a:p>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10" name="Picture 9">
            <a:extLst>
              <a:ext uri="{FF2B5EF4-FFF2-40B4-BE49-F238E27FC236}">
                <a16:creationId xmlns:a16="http://schemas.microsoft.com/office/drawing/2014/main" id="{1C36A56B-1691-5E90-C3D3-78664A15D525}"/>
              </a:ext>
            </a:extLst>
          </p:cNvPr>
          <p:cNvPicPr>
            <a:picLocks noChangeAspect="1"/>
          </p:cNvPicPr>
          <p:nvPr/>
        </p:nvPicPr>
        <p:blipFill>
          <a:blip r:embed="rId3"/>
          <a:stretch>
            <a:fillRect/>
          </a:stretch>
        </p:blipFill>
        <p:spPr>
          <a:xfrm>
            <a:off x="3970442" y="3689396"/>
            <a:ext cx="1152166" cy="1056764"/>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410903"/>
            <a:ext cx="10607040" cy="5047536"/>
          </a:xfrm>
          <a:prstGeom prst="rect">
            <a:avLst/>
          </a:prstGeom>
          <a:noFill/>
        </p:spPr>
        <p:txBody>
          <a:bodyPr wrap="square" rtlCol="0">
            <a:spAutoFit/>
          </a:bodyPr>
          <a:lstStyle/>
          <a:p>
            <a:pPr fontAlgn="base"/>
            <a:r>
              <a:rPr lang="en-US" b="1" dirty="0"/>
              <a:t>Problem Statement : </a:t>
            </a:r>
            <a:r>
              <a:rPr lang="en-IN" dirty="0"/>
              <a:t>AI-Powered Nutrition Advisor Agent</a:t>
            </a:r>
            <a:endParaRPr lang="en-US" dirty="0"/>
          </a:p>
          <a:p>
            <a:pPr fontAlgn="base"/>
            <a:endParaRPr lang="en-US" b="1" dirty="0"/>
          </a:p>
          <a:p>
            <a:pPr fontAlgn="base"/>
            <a:r>
              <a:rPr lang="en-US" b="1" dirty="0"/>
              <a:t>The Challenge</a:t>
            </a:r>
            <a:r>
              <a:rPr lang="en-US" dirty="0"/>
              <a:t> </a:t>
            </a:r>
          </a:p>
          <a:p>
            <a:pPr fontAlgn="base"/>
            <a:r>
              <a:rPr lang="en-IN" dirty="0"/>
              <a:t>Good nutrition is the foundation of health, yet individuals and families consistently struggle with diet planning, portion control, calorie awareness, and making informed food choices. In a country like India, where cuisine is deeply diverse and culturally rooted, generic nutrition tools fail to account for regional food habits, traditional ingredients, and varying dietary preferences such as vegetarian, vegan, Jain, or diabetic-friendly diets. Additionally, busy lifestyles leave people with little time to research balanced meals, calculate macronutrients, or plan weekly menus for the entire family. Without personalized, accessible, and culturally relevant guidance, people unknowingly consume imbalanced diets — leading to lifestyle diseases such as obesity, Type 2 diabetes, hypertension, and malnutrition. This highlights the urgent need for an AI-powered nutrition system that understands individual health profiles and delivers actionable, personalized dietary recommendations.</a:t>
            </a:r>
            <a:r>
              <a:rPr lang="en-US" dirty="0"/>
              <a:t>. </a:t>
            </a:r>
          </a:p>
          <a:p>
            <a:pPr fontAlgn="base"/>
            <a:endParaRPr lang="en-US" dirty="0"/>
          </a:p>
          <a:p>
            <a:pPr fontAlgn="base"/>
            <a:r>
              <a:rPr lang="en-US" b="1" dirty="0"/>
              <a:t>The Objective</a:t>
            </a:r>
            <a:r>
              <a:rPr lang="en-US" dirty="0"/>
              <a:t> </a:t>
            </a:r>
          </a:p>
          <a:p>
            <a:r>
              <a:rPr lang="en-IN" b="1" dirty="0"/>
              <a:t>Personalized Nutrition Planning</a:t>
            </a:r>
            <a:r>
              <a:rPr lang="en-IN" dirty="0"/>
              <a:t> — Generate customized daily and weekly meal plans based on the user's age, weight, height, health goals, dietary preferences, and medical conditions.</a:t>
            </a:r>
          </a:p>
          <a:p>
            <a:pPr fontAlgn="base"/>
            <a:r>
              <a:rPr lang="en-IN" b="1" dirty="0"/>
              <a:t>Calorie &amp; Macro Analysis</a:t>
            </a:r>
            <a:r>
              <a:rPr lang="en-IN" dirty="0"/>
              <a:t> — Analyse the nutritional content of any meal or food item, providing accurate calorie counts, macronutrient breakdowns (protein, carbohydrates, fats, fibre), and key micronutrient insights.</a:t>
            </a:r>
          </a:p>
          <a:p>
            <a:pPr fontAlgn="base"/>
            <a:r>
              <a:rPr lang="en-IN" b="1" dirty="0"/>
              <a:t>BMI &amp; Health Assessment</a:t>
            </a:r>
            <a:r>
              <a:rPr lang="en-IN" dirty="0"/>
              <a:t> — Calculate Body Mass Index (BMI), Basal Metabolic Rate (BMR), and Total Daily Energy Expenditure (TDEE) to help users understand their current health status and set realistic goals.</a:t>
            </a:r>
          </a:p>
          <a:p>
            <a:pPr fontAlgn="base"/>
            <a:r>
              <a:rPr lang="en-IN" b="1" dirty="0"/>
              <a:t>Conversational AI Coaching</a:t>
            </a:r>
            <a:r>
              <a:rPr lang="en-IN" dirty="0"/>
              <a:t> — Deliver real-time, context-aware nutrition advice through a conversational chat interface powered by IBM Watsonx.ai Granite models, enabling users to ask questions naturally and receive expert-level responses instantly.</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832092"/>
          </a:xfrm>
          <a:prstGeom prst="rect">
            <a:avLst/>
          </a:prstGeom>
          <a:noFill/>
        </p:spPr>
        <p:txBody>
          <a:bodyPr wrap="square" rtlCol="0">
            <a:spAutoFit/>
          </a:bodyPr>
          <a:lstStyle/>
          <a:p>
            <a:pPr fontAlgn="base"/>
            <a:endParaRPr lang="en-US" b="1" dirty="0"/>
          </a:p>
          <a:p>
            <a:r>
              <a:rPr lang="en-IN" dirty="0"/>
              <a:t>The proposed solution is a </a:t>
            </a:r>
            <a:r>
              <a:rPr lang="en-IN" b="1" dirty="0"/>
              <a:t>multi-agent AI-powered Smart Nutrition Agent</a:t>
            </a:r>
            <a:r>
              <a:rPr lang="en-IN" dirty="0"/>
              <a:t> built using </a:t>
            </a:r>
            <a:r>
              <a:rPr lang="en-IN" b="1" dirty="0"/>
              <a:t>IBM Bob, IBM watsonx.ai, and Granite Models</a:t>
            </a:r>
            <a:r>
              <a:rPr lang="en-IN" dirty="0"/>
              <a:t> to provide personalized, real-time nutrition guidance and health recommendations. The system addresses challenges in diet planning, calorie awareness, nutrition analysis, and preventive healthcare through an intelligent, modular architecture.</a:t>
            </a:r>
          </a:p>
          <a:p>
            <a:r>
              <a:rPr lang="en-IN" dirty="0"/>
              <a:t>At its core, the solution uses a </a:t>
            </a:r>
            <a:r>
              <a:rPr lang="en-IN" b="1" dirty="0"/>
              <a:t>Retrieval-Augmented Generation (RAG)</a:t>
            </a:r>
            <a:r>
              <a:rPr lang="en-IN" dirty="0"/>
              <a:t> pipeline to fetch accurate nutritional information from trusted sources such as </a:t>
            </a:r>
            <a:r>
              <a:rPr lang="en-IN" b="1" dirty="0"/>
              <a:t>USDA, FSSAI, WHO, and Indian Food Composition (IFCT) datasets</a:t>
            </a:r>
            <a:r>
              <a:rPr lang="en-IN" dirty="0"/>
              <a:t>. This data is embedded and stored in a vector database, enabling the system to retrieve and summarize nutritional information including calories, macronutrients, micronutrients, and health benefits using Granite models.</a:t>
            </a:r>
          </a:p>
          <a:p>
            <a:r>
              <a:rPr lang="en-IN" dirty="0"/>
              <a:t>The system consists of four key agents:</a:t>
            </a:r>
          </a:p>
          <a:p>
            <a:r>
              <a:rPr lang="en-IN" b="1" dirty="0"/>
              <a:t>Nutrition Analysis Agent</a:t>
            </a:r>
            <a:r>
              <a:rPr lang="en-IN" dirty="0"/>
              <a:t> retrieves and summarizes nutritional information using RAG and provides calorie, macronutrient (protein, carbohydrates, fats, fibre), and micronutrient analysis for food items and meals. </a:t>
            </a:r>
          </a:p>
          <a:p>
            <a:r>
              <a:rPr lang="en-IN" b="1" dirty="0"/>
              <a:t>Personalized Diet Recommendation Agent</a:t>
            </a:r>
            <a:r>
              <a:rPr lang="en-IN" dirty="0"/>
              <a:t> generates customized daily and weekly meal plans based on user inputs such as age, height, weight, BMI, BMR, TDEE, dietary preferences, fitness goals, and medical conditions. </a:t>
            </a:r>
          </a:p>
          <a:p>
            <a:r>
              <a:rPr lang="en-IN" b="1" dirty="0"/>
              <a:t>Indian Food Intelligence Agent</a:t>
            </a:r>
            <a:r>
              <a:rPr lang="en-IN" dirty="0"/>
              <a:t> recommends culturally relevant meal plans using traditional Indian foods, regional cuisines, and health-beneficial spices while supporting vegetarian, vegan, Jain, diabetic-friendly, and other dietary preferences. </a:t>
            </a:r>
          </a:p>
          <a:p>
            <a:r>
              <a:rPr lang="en-IN" b="1" dirty="0"/>
              <a:t>Health Assessment &amp; Family Nutrition Agent</a:t>
            </a:r>
            <a:r>
              <a:rPr lang="en-IN" dirty="0"/>
              <a:t> calculates BMI, BMR, and TDEE, provides preventive health recommendations, and generates personalized nutrition plans for multiple family members, including children, adults, and elderly individuals.</a:t>
            </a:r>
            <a:br>
              <a:rPr lang="en-IN" dirty="0"/>
            </a:br>
            <a:br>
              <a:rPr lang="en-IN" dirty="0"/>
            </a:br>
            <a:r>
              <a:rPr lang="en-IN" dirty="0"/>
              <a:t>The solution includes a </a:t>
            </a:r>
            <a:r>
              <a:rPr lang="en-IN" b="1" dirty="0"/>
              <a:t>user-friendly dashboard (built with </a:t>
            </a:r>
            <a:r>
              <a:rPr lang="en-IN" b="1" dirty="0" err="1"/>
              <a:t>Streamlit</a:t>
            </a:r>
            <a:r>
              <a:rPr lang="en-IN" b="1" dirty="0"/>
              <a:t> or React)</a:t>
            </a:r>
            <a:r>
              <a:rPr lang="en-IN" dirty="0"/>
              <a:t> that visualizes daily calorie intake, macronutrient distribution, BMI, BMR, TDEE, meal plans, nutrition history, and progress toward individual health goals.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693866"/>
          </a:xfrm>
          <a:prstGeom prst="rect">
            <a:avLst/>
          </a:prstGeom>
          <a:noFill/>
        </p:spPr>
        <p:txBody>
          <a:bodyPr wrap="square" rtlCol="0">
            <a:spAutoFit/>
          </a:bodyPr>
          <a:lstStyle/>
          <a:p>
            <a:r>
              <a:rPr lang="en-IN" sz="2000" b="1" dirty="0"/>
              <a:t>IBM watsonx.ai (Granite Model)</a:t>
            </a:r>
            <a:r>
              <a:rPr lang="en-IN" sz="2000" dirty="0"/>
              <a:t> – For natural language understanding, nutrition reasoning, personalized meal recommendations, and conversational AI. </a:t>
            </a:r>
          </a:p>
          <a:p>
            <a:r>
              <a:rPr lang="en-IN" sz="2000" b="1" dirty="0"/>
              <a:t>Python</a:t>
            </a:r>
            <a:r>
              <a:rPr lang="en-IN" sz="2000" dirty="0"/>
              <a:t> – Core programming language used to develop the backend. </a:t>
            </a:r>
          </a:p>
          <a:p>
            <a:r>
              <a:rPr lang="en-IN" sz="2000" b="1" dirty="0"/>
              <a:t>Flask</a:t>
            </a:r>
            <a:r>
              <a:rPr lang="en-IN" sz="2000" dirty="0"/>
              <a:t> – Lightweight backend framework for building REST APIs and handling user requests. </a:t>
            </a:r>
          </a:p>
          <a:p>
            <a:r>
              <a:rPr lang="en-IN" sz="2000" b="1" dirty="0"/>
              <a:t>IBM watsonx.ai Python SDK</a:t>
            </a:r>
            <a:r>
              <a:rPr lang="en-IN" sz="2000" dirty="0"/>
              <a:t> – Connects the Flask backend with IBM watsonx.ai Granite models. </a:t>
            </a:r>
          </a:p>
          <a:p>
            <a:r>
              <a:rPr lang="en-IN" sz="2000" b="1" dirty="0"/>
              <a:t>HTML, CSS, Bootstrap &amp; JavaScript</a:t>
            </a:r>
            <a:r>
              <a:rPr lang="en-IN" sz="2000" dirty="0"/>
              <a:t> – For developing a responsive and user-friendly web interface. </a:t>
            </a:r>
          </a:p>
          <a:p>
            <a:r>
              <a:rPr lang="en-IN" sz="2000" b="1" dirty="0"/>
              <a:t>Flask Sessions</a:t>
            </a:r>
            <a:r>
              <a:rPr lang="en-IN" sz="2000" dirty="0"/>
              <a:t> – Maintains user conversation history and session management. </a:t>
            </a:r>
          </a:p>
          <a:p>
            <a:r>
              <a:rPr lang="en-IN" sz="2000" b="1" dirty="0"/>
              <a:t>Python-</a:t>
            </a:r>
            <a:r>
              <a:rPr lang="en-IN" sz="2000" b="1" dirty="0" err="1"/>
              <a:t>dotenv</a:t>
            </a:r>
            <a:r>
              <a:rPr lang="en-IN" sz="2000" b="1" dirty="0"/>
              <a:t> (.env)</a:t>
            </a:r>
            <a:r>
              <a:rPr lang="en-IN" sz="2000" dirty="0"/>
              <a:t> – Securely stores and manages API keys and configuration details. </a:t>
            </a:r>
          </a:p>
          <a:p>
            <a:r>
              <a:rPr lang="en-IN" sz="2000" b="1" dirty="0"/>
              <a:t>Docker &amp; </a:t>
            </a:r>
            <a:r>
              <a:rPr lang="en-IN" sz="2000" b="1" dirty="0" err="1"/>
              <a:t>Gunicorn</a:t>
            </a:r>
            <a:r>
              <a:rPr lang="en-IN" sz="2000" b="1" dirty="0"/>
              <a:t>/Waitress</a:t>
            </a:r>
            <a:r>
              <a:rPr lang="en-IN" sz="2000" dirty="0"/>
              <a:t> – For application deployment and scalable production hosting. </a:t>
            </a:r>
          </a:p>
          <a:p>
            <a:r>
              <a:rPr lang="en-IN" sz="2000" b="1" dirty="0"/>
              <a:t>IBM Cloud</a:t>
            </a:r>
            <a:r>
              <a:rPr lang="en-IN" sz="2000" dirty="0"/>
              <a:t> – Provides secure, reliable, and scalable cloud infrastructure for deploying the Smart Nutrition Agent.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r>
              <a:rPr lang="en-IN" dirty="0"/>
              <a:t>Agentic AI enables the </a:t>
            </a:r>
            <a:r>
              <a:rPr lang="en-IN" b="1" dirty="0"/>
              <a:t>Smart Nutrition Agent</a:t>
            </a:r>
            <a:r>
              <a:rPr lang="en-IN" dirty="0"/>
              <a:t> to operate as an intelligent system of specialized AI agents that work together to provide personalized nutrition guidance instead of responding with a single generic answer.</a:t>
            </a:r>
          </a:p>
          <a:p>
            <a:r>
              <a:rPr lang="en-IN" b="1" dirty="0"/>
              <a:t>Nutrition Analysis Agent</a:t>
            </a:r>
            <a:r>
              <a:rPr lang="en-IN" dirty="0"/>
              <a:t> – </a:t>
            </a:r>
            <a:r>
              <a:rPr lang="en-IN" dirty="0" err="1"/>
              <a:t>Analyzes</a:t>
            </a:r>
            <a:r>
              <a:rPr lang="en-IN" dirty="0"/>
              <a:t> food items and meals to provide calorie, macronutrient, and micronutrient information. </a:t>
            </a:r>
          </a:p>
          <a:p>
            <a:r>
              <a:rPr lang="en-IN" b="1" dirty="0"/>
              <a:t>Personalized Diet Recommendation Agent</a:t>
            </a:r>
            <a:r>
              <a:rPr lang="en-IN" dirty="0"/>
              <a:t> – Creates customized meal plans based on the user's age, height, weight, health goals, dietary preferences, and medical conditions. </a:t>
            </a:r>
          </a:p>
          <a:p>
            <a:r>
              <a:rPr lang="en-IN" b="1" dirty="0"/>
              <a:t>Indian Food Intelligence Agent</a:t>
            </a:r>
            <a:r>
              <a:rPr lang="en-IN" dirty="0"/>
              <a:t> – Recommends culturally relevant Indian meals, regional cuisines, and suitable alternatives based on dietary restrictions. </a:t>
            </a:r>
          </a:p>
          <a:p>
            <a:r>
              <a:rPr lang="en-IN" b="1" dirty="0"/>
              <a:t>Health Assessment &amp; Family Nutrition Agent</a:t>
            </a:r>
            <a:r>
              <a:rPr lang="en-IN" dirty="0"/>
              <a:t> – Calculates BMI, BMR, and TDEE, assesses overall health, and generates personalized nutrition plans for multiple family members. </a:t>
            </a:r>
          </a:p>
          <a:p>
            <a:r>
              <a:rPr lang="en-IN" b="1" dirty="0"/>
              <a:t>Collaborative Decision Making</a:t>
            </a:r>
            <a:r>
              <a:rPr lang="en-IN" dirty="0"/>
              <a:t> – The agents communicate and share information to generate accurate, context-aware, and personalized nutrition recommendations. </a:t>
            </a:r>
          </a:p>
          <a:p>
            <a:r>
              <a:rPr lang="en-IN" b="1" dirty="0"/>
              <a:t>Autonomous Task Execution</a:t>
            </a:r>
            <a:r>
              <a:rPr lang="en-IN" dirty="0"/>
              <a:t> – Each agent independently performs its assigned task while contributing to a complete end-to-end nutrition advisory solution, improving accuracy, efficiency, and user experience.</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A39860D-FC39-D7B9-3A0E-7613BECCCF1C}"/>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40F5205-A5FA-112F-0513-7002F45E4189}"/>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IBM Bob output screen: </a:t>
            </a:r>
            <a:endParaRPr sz="2400" b="1" dirty="0">
              <a:sym typeface="Times New Roman"/>
            </a:endParaRPr>
          </a:p>
        </p:txBody>
      </p:sp>
      <p:sp>
        <p:nvSpPr>
          <p:cNvPr id="280" name="Google Shape;280;p18">
            <a:extLst>
              <a:ext uri="{FF2B5EF4-FFF2-40B4-BE49-F238E27FC236}">
                <a16:creationId xmlns:a16="http://schemas.microsoft.com/office/drawing/2014/main" id="{EF70A8AE-45B6-014E-19BD-1EAE862DC21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B90F276F-5381-AB32-5D66-085250C29A17}"/>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5E9DD1B-B56C-A396-7D8B-E1564C6A99F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8ACE664-E498-1D0E-AC69-240B8CB84C00}"/>
              </a:ext>
            </a:extLst>
          </p:cNvPr>
          <p:cNvPicPr>
            <a:picLocks noChangeAspect="1"/>
          </p:cNvPicPr>
          <p:nvPr/>
        </p:nvPicPr>
        <p:blipFill>
          <a:blip r:embed="rId3"/>
          <a:stretch>
            <a:fillRect/>
          </a:stretch>
        </p:blipFill>
        <p:spPr>
          <a:xfrm>
            <a:off x="793191" y="1019595"/>
            <a:ext cx="10997755" cy="5654048"/>
          </a:xfrm>
          <a:prstGeom prst="rect">
            <a:avLst/>
          </a:prstGeom>
        </p:spPr>
      </p:pic>
    </p:spTree>
    <p:extLst>
      <p:ext uri="{BB962C8B-B14F-4D97-AF65-F5344CB8AC3E}">
        <p14:creationId xmlns:p14="http://schemas.microsoft.com/office/powerpoint/2010/main" val="15358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6E598E0-241F-2CBB-4EC6-0505700AFE3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55EF2A2-D1AE-D36D-080D-7E9ED479D912}"/>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IBM Bob output screen: </a:t>
            </a:r>
            <a:endParaRPr sz="2400" b="1" dirty="0">
              <a:sym typeface="Times New Roman"/>
            </a:endParaRPr>
          </a:p>
        </p:txBody>
      </p:sp>
      <p:sp>
        <p:nvSpPr>
          <p:cNvPr id="280" name="Google Shape;280;p18">
            <a:extLst>
              <a:ext uri="{FF2B5EF4-FFF2-40B4-BE49-F238E27FC236}">
                <a16:creationId xmlns:a16="http://schemas.microsoft.com/office/drawing/2014/main" id="{ED8D0E4E-FEC3-AAAD-2BFB-D27B90F2550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6C2256C-63A1-C1E2-2E31-59288EE914D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F10278D-6F15-379C-B596-6A6B3273202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6FC6500-E088-C493-F570-1DE47590A2B8}"/>
              </a:ext>
            </a:extLst>
          </p:cNvPr>
          <p:cNvPicPr>
            <a:picLocks noChangeAspect="1"/>
          </p:cNvPicPr>
          <p:nvPr/>
        </p:nvPicPr>
        <p:blipFill>
          <a:blip r:embed="rId3"/>
          <a:stretch>
            <a:fillRect/>
          </a:stretch>
        </p:blipFill>
        <p:spPr>
          <a:xfrm>
            <a:off x="906379" y="907646"/>
            <a:ext cx="10379242" cy="5608794"/>
          </a:xfrm>
          <a:prstGeom prst="rect">
            <a:avLst/>
          </a:prstGeom>
        </p:spPr>
      </p:pic>
    </p:spTree>
    <p:extLst>
      <p:ext uri="{BB962C8B-B14F-4D97-AF65-F5344CB8AC3E}">
        <p14:creationId xmlns:p14="http://schemas.microsoft.com/office/powerpoint/2010/main" val="13475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CB2787F4-943E-86F4-17B6-1E47EE9A0D41}"/>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B557B17-352D-590B-F977-0E4D07B2FDDA}"/>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IBM Bob output screen: </a:t>
            </a:r>
            <a:endParaRPr sz="2400" b="1" dirty="0">
              <a:sym typeface="Times New Roman"/>
            </a:endParaRPr>
          </a:p>
        </p:txBody>
      </p:sp>
      <p:sp>
        <p:nvSpPr>
          <p:cNvPr id="280" name="Google Shape;280;p18">
            <a:extLst>
              <a:ext uri="{FF2B5EF4-FFF2-40B4-BE49-F238E27FC236}">
                <a16:creationId xmlns:a16="http://schemas.microsoft.com/office/drawing/2014/main" id="{E361E44A-BA20-1170-0E27-072367A3C9B1}"/>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285FF6D-5B19-9E2D-40AB-2846FB0EFE9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DE625457-85CE-26BE-DA01-4E9C292D4FC0}"/>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1EBC999D-7C01-B9DD-538F-EB679E9D8DD8}"/>
              </a:ext>
            </a:extLst>
          </p:cNvPr>
          <p:cNvPicPr>
            <a:picLocks noChangeAspect="1"/>
          </p:cNvPicPr>
          <p:nvPr/>
        </p:nvPicPr>
        <p:blipFill>
          <a:blip r:embed="rId3"/>
          <a:stretch>
            <a:fillRect/>
          </a:stretch>
        </p:blipFill>
        <p:spPr>
          <a:xfrm>
            <a:off x="541250" y="1044263"/>
            <a:ext cx="10432026" cy="4949501"/>
          </a:xfrm>
          <a:prstGeom prst="rect">
            <a:avLst/>
          </a:prstGeom>
        </p:spPr>
      </p:pic>
    </p:spTree>
    <p:extLst>
      <p:ext uri="{BB962C8B-B14F-4D97-AF65-F5344CB8AC3E}">
        <p14:creationId xmlns:p14="http://schemas.microsoft.com/office/powerpoint/2010/main" val="2898583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8C413133-76B3-D53A-7A13-DE7774573D53}"/>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8A95D804-F54B-2B39-67DE-E9BD6DEC0D44}"/>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IBM Bob output screen: </a:t>
            </a:r>
            <a:endParaRPr sz="2400" b="1" dirty="0">
              <a:sym typeface="Times New Roman"/>
            </a:endParaRPr>
          </a:p>
        </p:txBody>
      </p:sp>
      <p:sp>
        <p:nvSpPr>
          <p:cNvPr id="280" name="Google Shape;280;p18">
            <a:extLst>
              <a:ext uri="{FF2B5EF4-FFF2-40B4-BE49-F238E27FC236}">
                <a16:creationId xmlns:a16="http://schemas.microsoft.com/office/drawing/2014/main" id="{A54BAC36-C17C-FB27-E4FF-F609FBEE893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B1F5B54B-B27C-FFF9-3147-6F4B7DC1141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B93A3A7-90D1-3542-CEAB-AEC464E38E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46BC70A-4750-50D8-2821-236F3F1A369D}"/>
              </a:ext>
            </a:extLst>
          </p:cNvPr>
          <p:cNvPicPr>
            <a:picLocks noChangeAspect="1"/>
          </p:cNvPicPr>
          <p:nvPr/>
        </p:nvPicPr>
        <p:blipFill>
          <a:blip r:embed="rId3"/>
          <a:stretch>
            <a:fillRect/>
          </a:stretch>
        </p:blipFill>
        <p:spPr>
          <a:xfrm>
            <a:off x="947687" y="1044263"/>
            <a:ext cx="10511619" cy="5472177"/>
          </a:xfrm>
          <a:prstGeom prst="rect">
            <a:avLst/>
          </a:prstGeom>
        </p:spPr>
      </p:pic>
    </p:spTree>
    <p:extLst>
      <p:ext uri="{BB962C8B-B14F-4D97-AF65-F5344CB8AC3E}">
        <p14:creationId xmlns:p14="http://schemas.microsoft.com/office/powerpoint/2010/main" val="3808431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516716"/>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462760"/>
          </a:xfrm>
          <a:prstGeom prst="rect">
            <a:avLst/>
          </a:prstGeom>
          <a:noFill/>
        </p:spPr>
        <p:txBody>
          <a:bodyPr wrap="square" rtlCol="0">
            <a:spAutoFit/>
          </a:bodyPr>
          <a:lstStyle/>
          <a:p>
            <a:r>
              <a:rPr lang="en-IN" sz="1800" b="1" dirty="0"/>
              <a:t>Multi-Agent AI Architecture</a:t>
            </a:r>
            <a:r>
              <a:rPr lang="en-IN" sz="1800" dirty="0"/>
              <a:t> – Uses specialized AI agents for nutrition analysis, meal planning, Indian food recommendations, and health assessment, enabling more accurate and personalized guidance than a single chatbot. </a:t>
            </a:r>
          </a:p>
          <a:p>
            <a:r>
              <a:rPr lang="en-IN" sz="1800" b="1" dirty="0"/>
              <a:t>Personalized Nutrition Planning</a:t>
            </a:r>
            <a:r>
              <a:rPr lang="en-IN" sz="1800" dirty="0"/>
              <a:t> – Generates meal plans based on age, height, weight, BMI, BMR, TDEE, health goals, dietary preferences, and medical conditions. </a:t>
            </a:r>
          </a:p>
          <a:p>
            <a:r>
              <a:rPr lang="en-IN" sz="1800" b="1" dirty="0"/>
              <a:t>Indian Food Intelligence</a:t>
            </a:r>
            <a:r>
              <a:rPr lang="en-IN" sz="1800" dirty="0"/>
              <a:t> – Recommends culturally relevant Indian meals, regional cuisines, and traditional ingredients instead of relying only on Western food databases. </a:t>
            </a:r>
          </a:p>
          <a:p>
            <a:r>
              <a:rPr lang="en-IN" sz="1800" b="1" dirty="0"/>
              <a:t>Family-Based Nutrition Support</a:t>
            </a:r>
            <a:r>
              <a:rPr lang="en-IN" sz="1800" dirty="0"/>
              <a:t> – Supports nutrition planning for multiple family members, including children, adults, and elderly individuals, within a single platform. </a:t>
            </a:r>
          </a:p>
          <a:p>
            <a:r>
              <a:rPr lang="en-IN" sz="1800" b="1" dirty="0"/>
              <a:t>Real-Time Conversational AI</a:t>
            </a:r>
            <a:r>
              <a:rPr lang="en-IN" sz="1800" dirty="0"/>
              <a:t> – Powered by IBM watsonx.ai Granite models, allowing users to ask nutrition-related questions in natural language and receive instant, personalized responses. </a:t>
            </a:r>
          </a:p>
          <a:p>
            <a:r>
              <a:rPr lang="en-IN" sz="1800" b="1" dirty="0"/>
              <a:t>Health-Focused Recommendations</a:t>
            </a:r>
            <a:r>
              <a:rPr lang="en-IN" sz="1800" dirty="0"/>
              <a:t> – Combines nutrition analysis with BMI, BMR, and TDEE calculations to provide preventive healthcare and wellness guidance rather than only calorie tracking. </a:t>
            </a:r>
          </a:p>
          <a:p>
            <a:r>
              <a:rPr lang="en-IN" sz="1800" b="1" dirty="0"/>
              <a:t>Scalable and Secure AI Solution</a:t>
            </a:r>
            <a:r>
              <a:rPr lang="en-IN" sz="1800" dirty="0"/>
              <a:t> – Built on IBM technologies, making the system reliable, scalable, and suitable for real-world healthcare and wellness applications. </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331019" y="1153712"/>
            <a:ext cx="10123044" cy="4958330"/>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600" b="1" dirty="0"/>
              <a:t>AI Image-Based Food Recognition</a:t>
            </a:r>
            <a:r>
              <a:rPr lang="en-IN" sz="1600" dirty="0"/>
              <a:t> – Detect food items from images and automatically estimate calories and nutritional values. </a:t>
            </a:r>
            <a:br>
              <a:rPr lang="en-IN" sz="1600" dirty="0"/>
            </a:br>
            <a:r>
              <a:rPr lang="en-IN" sz="1600" b="1" dirty="0"/>
              <a:t>Wearable &amp; Health Device Integration</a:t>
            </a:r>
            <a:r>
              <a:rPr lang="en-IN" sz="1600" dirty="0"/>
              <a:t> – Connect with smartwatches and fitness trackers to use real-time health data for personalized recommendations.</a:t>
            </a:r>
            <a:br>
              <a:rPr lang="en-IN" sz="1600" dirty="0"/>
            </a:br>
            <a:r>
              <a:rPr lang="en-IN" sz="1600" dirty="0"/>
              <a:t> </a:t>
            </a:r>
            <a:r>
              <a:rPr lang="en-IN" sz="1600" b="1" dirty="0"/>
              <a:t>Voice-Based Nutrition Assistant</a:t>
            </a:r>
            <a:r>
              <a:rPr lang="en-IN" sz="1600" dirty="0"/>
              <a:t> – Enable users to interact with the nutrition agent using voice commands in multiple languages. </a:t>
            </a:r>
            <a:br>
              <a:rPr lang="en-IN" sz="1600" dirty="0"/>
            </a:br>
            <a:r>
              <a:rPr lang="en-IN" sz="1600" b="1" dirty="0"/>
              <a:t>IoT Integration</a:t>
            </a:r>
            <a:r>
              <a:rPr lang="en-IN" sz="1600" dirty="0"/>
              <a:t> – Connect with smart kitchen appliances and health monitoring devices to provide intelligent meal planning and dietary suggestions. </a:t>
            </a:r>
            <a:br>
              <a:rPr lang="en-IN" sz="1600" dirty="0"/>
            </a:br>
            <a:r>
              <a:rPr lang="en-IN" sz="1600" b="1" dirty="0"/>
              <a:t>Disease-Specific Nutrition Support</a:t>
            </a:r>
            <a:r>
              <a:rPr lang="en-IN" sz="1600" dirty="0"/>
              <a:t> – Expand recommendations for conditions such as diabetes, hypertension, obesity, kidney disease, and heart disease. </a:t>
            </a:r>
            <a:br>
              <a:rPr lang="en-IN" sz="1600" dirty="0"/>
            </a:br>
            <a:r>
              <a:rPr lang="en-IN" sz="1600" b="1" dirty="0"/>
              <a:t>Multilingual Support</a:t>
            </a:r>
            <a:r>
              <a:rPr lang="en-IN" sz="1600" dirty="0"/>
              <a:t> – Support regional Indian languages to make the application accessible to a wider population.</a:t>
            </a:r>
            <a:endParaRPr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10" name="Picture 9">
            <a:extLst>
              <a:ext uri="{FF2B5EF4-FFF2-40B4-BE49-F238E27FC236}">
                <a16:creationId xmlns:a16="http://schemas.microsoft.com/office/drawing/2014/main" id="{E09829CD-88A1-E717-5117-B020D8CC31B7}"/>
              </a:ext>
            </a:extLst>
          </p:cNvPr>
          <p:cNvPicPr>
            <a:picLocks noChangeAspect="1"/>
          </p:cNvPicPr>
          <p:nvPr/>
        </p:nvPicPr>
        <p:blipFill>
          <a:blip r:embed="rId2"/>
          <a:stretch>
            <a:fillRect/>
          </a:stretch>
        </p:blipFill>
        <p:spPr>
          <a:xfrm>
            <a:off x="1947611" y="1213281"/>
            <a:ext cx="8622066" cy="519409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3A4D06DF-CEE3-5F13-70C3-E8B946346EFC}"/>
              </a:ext>
            </a:extLst>
          </p:cNvPr>
          <p:cNvPicPr>
            <a:picLocks noChangeAspect="1"/>
          </p:cNvPicPr>
          <p:nvPr/>
        </p:nvPicPr>
        <p:blipFill>
          <a:blip r:embed="rId2"/>
          <a:stretch>
            <a:fillRect/>
          </a:stretch>
        </p:blipFill>
        <p:spPr>
          <a:xfrm>
            <a:off x="1895226" y="1342977"/>
            <a:ext cx="8078595" cy="5288632"/>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TotalTime>
  <Words>1518</Words>
  <Application>Microsoft Office PowerPoint</Application>
  <PresentationFormat>Widescreen</PresentationFormat>
  <Paragraphs>98</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Bheemesh Gaddam</cp:lastModifiedBy>
  <cp:revision>20</cp:revision>
  <dcterms:created xsi:type="dcterms:W3CDTF">2025-07-08T05:06:56Z</dcterms:created>
  <dcterms:modified xsi:type="dcterms:W3CDTF">2026-07-25T08:53:04Z</dcterms:modified>
</cp:coreProperties>
</file>